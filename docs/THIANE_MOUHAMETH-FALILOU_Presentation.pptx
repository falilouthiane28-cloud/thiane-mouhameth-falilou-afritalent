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4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8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d'introduction — présenter AfriTalent et son auteur.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de la présentation en 6 parties.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Contexte du freelancing en Afrique, objectif et public 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 de couleurs et signification.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Typographies et sources d'inspiration.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Arborescence des pages du site AfriTalent.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Captures d'écran des pages principales du site AfriTalent.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JavaScript: compteurs animés, filtrage, validation, dark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 et CSS avancé : navbar, grid, cards, carousel, bento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Git, historique des commits et déploiement sur GitHub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Difficultés rencontrées et solutions mises en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et ressources utilisées dans le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du site AfriTalent.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Perspectives: auth, BDD, messagerie, paiement,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— récapitulatif des réalisations.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 et inviter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4FD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9B87F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0" y="-457200"/>
            <a:ext cx="1828800" cy="1828800"/>
          </a:xfrm>
          <a:prstGeom prst="ellipse">
            <a:avLst/>
          </a:prstGeom>
          <a:solidFill>
            <a:srgbClr val="F5A62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974" y="288036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CONSULTANTS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251460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6C4FD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entre freelances africains et entreprises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4015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Mouhameth Falilou Thiane</a:t>
            </a: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38587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Web  |  2025 – 2026</a:t>
            </a:r>
            <a:endParaRPr lang="en-US" sz="13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9F91849-9263-0C94-05CD-D66D60B07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4" y="58478"/>
            <a:ext cx="2243991" cy="66028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6C4FD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4023360" cy="852759"/>
          </a:xfrm>
          <a:prstGeom prst="roundRect">
            <a:avLst>
              <a:gd name="adj" fmla="val 909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01-03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4360" y="1261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4447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3685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3906" y="2633472"/>
            <a:ext cx="9014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4-05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633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0014" y="3627801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2272" y="3822191"/>
            <a:ext cx="797668" cy="564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06-07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3822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1381328"/>
            <a:ext cx="845658" cy="5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08-09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0" y="14447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52805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83480" y="2450592"/>
            <a:ext cx="9114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fr-FR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0-13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0" y="2827052"/>
            <a:ext cx="3017520" cy="45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solutions</a:t>
            </a:r>
            <a:endParaRPr lang="en-US" sz="2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Ressouces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documentations </a:t>
            </a:r>
          </a:p>
          <a:p>
            <a:pPr marL="0" indent="0" algn="ctr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Demostrations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</a:t>
            </a:r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8806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22196" y="3738339"/>
            <a:ext cx="972766" cy="73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4-15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0" y="3822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6C4FD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4A33B5">
              <a:alpha val="65000"/>
            </a:srgbClr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188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700" dirty="0">
              <a:solidFill>
                <a:schemeClr val="bg2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2423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freelancing en Afrique est en plein essor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les talents manquent de visibilité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peinent à trouver les bons profils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4A33B5">
              <a:alpha val="65000"/>
            </a:srgbClr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1887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700" dirty="0">
              <a:solidFill>
                <a:schemeClr val="bg2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3337560" y="2514600"/>
            <a:ext cx="2423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plateforme de mise en relation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moderne et accessible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talents africains &amp; entreprises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076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4A33B5">
              <a:alpha val="65000"/>
            </a:srgbClr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1887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8076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1700" dirty="0">
              <a:solidFill>
                <a:schemeClr val="bg2"/>
              </a:solidFill>
            </a:endParaRPr>
          </a:p>
        </p:txBody>
      </p:sp>
      <p:sp>
        <p:nvSpPr>
          <p:cNvPr id="16" name="Text 11"/>
          <p:cNvSpPr/>
          <p:nvPr/>
        </p:nvSpPr>
        <p:spPr>
          <a:xfrm>
            <a:off x="6217920" y="2514600"/>
            <a:ext cx="2423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africains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cherchant des experts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PME en croissance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6C4FD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#6C4FDF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127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Principal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Créativité, innovation, tech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3258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0D0D0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127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Sérieux, premium, impact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3258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3127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Clarté, espace, lisibilité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3258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5A62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9496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#F5A623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3127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 Accent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Énergie, dynamisme, CTAs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3258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9B87F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#9B87F5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3127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Clair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Douceur, accessibilité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6C4F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choisi : SaaS / Startup Tech — Minimaliste, élégant, fort impact visuel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 &amp; Inspirations UI/UX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4F2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Montserrat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&amp; Headings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Moderne, géométrique, fort impact visuel. Idéal pour les grands titres.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992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4F2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de texte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83480" y="23591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Lisible, contemporaine, technologique. Parfaite pour la lecture à l'écran.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9992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les talents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 UI/UX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 — marketplace moderne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— profils pro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 — design européen élégant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37490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6C4F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749040"/>
            <a:ext cx="393192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une interface intuitive, professionnelle et inspirante pour les talents africains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des pages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91840" y="128016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6C4FD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flipH="1">
            <a:off x="1097278" y="1572768"/>
            <a:ext cx="2194561" cy="722376"/>
          </a:xfrm>
          <a:prstGeom prst="line">
            <a:avLst/>
          </a:prstGeom>
          <a:noFill/>
          <a:ln w="19050">
            <a:solidFill>
              <a:srgbClr val="9B87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4F2FF"/>
          </a:solidFill>
          <a:ln w="19050">
            <a:solidFill>
              <a:srgbClr val="9B87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68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450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737360" y="32918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4F2FF"/>
          </a:solidFill>
          <a:ln w="19050">
            <a:solidFill>
              <a:srgbClr val="9B87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3474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34564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0" y="1920240"/>
            <a:ext cx="128693" cy="548640"/>
          </a:xfrm>
          <a:prstGeom prst="line">
            <a:avLst/>
          </a:prstGeom>
          <a:noFill/>
          <a:ln w="19050">
            <a:solidFill>
              <a:srgbClr val="9B87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566160" y="24688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4F2FF"/>
          </a:solidFill>
          <a:ln w="19050">
            <a:solidFill>
              <a:srgbClr val="9B87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6517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0" y="2633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806440" y="1938528"/>
            <a:ext cx="685800" cy="1353312"/>
          </a:xfrm>
          <a:prstGeom prst="line">
            <a:avLst/>
          </a:prstGeom>
          <a:noFill/>
          <a:ln w="19050">
            <a:solidFill>
              <a:srgbClr val="9B87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86400" y="32918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4F2FF"/>
          </a:solidFill>
          <a:ln w="19050">
            <a:solidFill>
              <a:srgbClr val="9B87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47472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0" y="34564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829308" y="1645920"/>
            <a:ext cx="2217412" cy="640080"/>
          </a:xfrm>
          <a:prstGeom prst="line">
            <a:avLst/>
          </a:prstGeom>
          <a:noFill/>
          <a:ln w="19050">
            <a:solidFill>
              <a:srgbClr val="9B87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040880" y="228600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4F2FF"/>
          </a:solidFill>
          <a:ln w="19050">
            <a:solidFill>
              <a:srgbClr val="9B87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7589520" y="2450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page est un module indépendant accessible depuis la navigation principale.</a:t>
            </a:r>
            <a:endParaRPr lang="en-US" sz="120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13B4CA21-54B6-B7B3-C2D4-733A0FA57DAD}"/>
              </a:ext>
            </a:extLst>
          </p:cNvPr>
          <p:cNvSpPr/>
          <p:nvPr/>
        </p:nvSpPr>
        <p:spPr>
          <a:xfrm flipH="1">
            <a:off x="2597572" y="1897380"/>
            <a:ext cx="785708" cy="1394460"/>
          </a:xfrm>
          <a:prstGeom prst="line">
            <a:avLst/>
          </a:prstGeom>
          <a:noFill/>
          <a:ln w="19050">
            <a:solidFill>
              <a:srgbClr val="9B87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Graphique 33" descr="Badge d'employé avec un remplissage uni">
            <a:extLst>
              <a:ext uri="{FF2B5EF4-FFF2-40B4-BE49-F238E27FC236}">
                <a16:creationId xmlns:a16="http://schemas.microsoft.com/office/drawing/2014/main" id="{45AC80E4-54F3-EA0E-D7BA-D9E637BE2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6600" y="2400300"/>
            <a:ext cx="502920" cy="50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8"/>
          <p:cNvSpPr/>
          <p:nvPr/>
        </p:nvSpPr>
        <p:spPr>
          <a:xfrm>
            <a:off x="1600200" y="301752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989320" y="98298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des pages principales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900" y="1197864"/>
            <a:ext cx="2697480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724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108960" y="1051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1124712"/>
            <a:ext cx="2743200" cy="160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54680" y="2724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45920" y="3090672"/>
            <a:ext cx="2743200" cy="1600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2724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57550" y="1124712"/>
            <a:ext cx="2628900" cy="1600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45920" y="4690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526280" y="301752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3063240"/>
            <a:ext cx="2743200" cy="1600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0" y="4690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577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techniques — code réel du projet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92608" y="886968"/>
            <a:ext cx="4251960" cy="2084832"/>
          </a:xfrm>
          <a:prstGeom prst="roundRect">
            <a:avLst>
              <a:gd name="adj" fmla="val 5263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12700">
            <a:solidFill>
              <a:srgbClr val="2A2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508760"/>
            <a:ext cx="3867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 = new IntersectionObserver(entries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entries.forEach(entry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(!entry.isIntersecting) return;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el = entry.target;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final = parseInt(el.dataset.target);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current = 0;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timer = setInterval(()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current += final / 100;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(current &gt;= final) { clearInterval(timer); }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el.textContent = '+' + Math.floor(current);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20);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obs.unobserve(el);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92608" y="886968"/>
            <a:ext cx="4251960" cy="676656"/>
          </a:xfrm>
          <a:prstGeom prst="roundRect">
            <a:avLst>
              <a:gd name="adj" fmla="val 16216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417320"/>
            <a:ext cx="4251960" cy="164592"/>
          </a:xfrm>
          <a:prstGeom prst="rect">
            <a:avLst/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2336" y="978408"/>
            <a:ext cx="365760" cy="365760"/>
          </a:xfrm>
          <a:prstGeom prst="ellipse">
            <a:avLst/>
          </a:prstGeom>
          <a:solidFill>
            <a:srgbClr val="6C4FDF"/>
          </a:solidFill>
          <a:ln w="12700">
            <a:solidFill>
              <a:srgbClr val="6C4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97840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9536" y="950976"/>
            <a:ext cx="3575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Compteurs animés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1225296"/>
            <a:ext cx="3575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9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IntersectionObserver + setInterval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892040" y="886968"/>
            <a:ext cx="4251960" cy="2084832"/>
          </a:xfrm>
          <a:prstGeom prst="roundRect">
            <a:avLst>
              <a:gd name="adj" fmla="val 5263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83480" y="1453896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12700">
            <a:solidFill>
              <a:srgbClr val="2A2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74920" y="1508760"/>
            <a:ext cx="3867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filterBtns.forEach(btn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btn.addEventListener('click', ()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filterBtns.forEach(b =&gt;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b.classList.remove('active'));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btn.classList.add('active');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filter = btn.dataset.filter;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freelancerCards.forEach(card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cat = card.dataset.category;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card.style.display 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filter==='all' || cat===filter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? 'block' : 'none';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892040" y="886968"/>
            <a:ext cx="4251960" cy="676656"/>
          </a:xfrm>
          <a:prstGeom prst="roundRect">
            <a:avLst>
              <a:gd name="adj" fmla="val 16216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92040" y="1417320"/>
            <a:ext cx="4251960" cy="164592"/>
          </a:xfrm>
          <a:prstGeom prst="rect">
            <a:avLst/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01768" y="978408"/>
            <a:ext cx="365760" cy="365760"/>
          </a:xfrm>
          <a:prstGeom prst="ellipse">
            <a:avLst/>
          </a:prstGeom>
          <a:solidFill>
            <a:srgbClr val="6C4FDF"/>
          </a:solidFill>
          <a:ln w="12700">
            <a:solidFill>
              <a:srgbClr val="6C4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97840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58968" y="950976"/>
            <a:ext cx="3575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dynamique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58968" y="1225296"/>
            <a:ext cx="3575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9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— sans rechargement de page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292608" y="3044952"/>
            <a:ext cx="4251960" cy="2084832"/>
          </a:xfrm>
          <a:prstGeom prst="roundRect">
            <a:avLst>
              <a:gd name="adj" fmla="val 5263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84048" y="36118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12700">
            <a:solidFill>
              <a:srgbClr val="2A2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75488" y="3666744"/>
            <a:ext cx="3867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form.addEventListener('submit', (e)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errors.forEach(el =&gt; el.textContent = '');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isValid = true;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 = /^[^s@]+@[^s@]+.[^s@]+$/;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(!re.test(email.value.trim()))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email.nextElementSibling.textContent 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'Email invalide';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isValid = false;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(message.value.trim().length &lt; 20)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message.nextElementSibling.textContent 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'Min. 20 caractères requis';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isValid = false;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292608" y="3044952"/>
            <a:ext cx="4251960" cy="676656"/>
          </a:xfrm>
          <a:prstGeom prst="roundRect">
            <a:avLst>
              <a:gd name="adj" fmla="val 16216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92608" y="3575304"/>
            <a:ext cx="4251960" cy="164592"/>
          </a:xfrm>
          <a:prstGeom prst="rect">
            <a:avLst/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02336" y="3136392"/>
            <a:ext cx="365760" cy="365760"/>
          </a:xfrm>
          <a:prstGeom prst="ellipse">
            <a:avLst/>
          </a:prstGeom>
          <a:solidFill>
            <a:srgbClr val="6C4FDF"/>
          </a:solidFill>
          <a:ln w="12700">
            <a:solidFill>
              <a:srgbClr val="6C4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136392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59536" y="3108960"/>
            <a:ext cx="3575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formulaire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59536" y="3383280"/>
            <a:ext cx="3575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9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email + min 20 car. + erreurs par champ</a:t>
            </a:r>
            <a:endParaRPr lang="en-US" sz="780" dirty="0"/>
          </a:p>
        </p:txBody>
      </p:sp>
      <p:sp>
        <p:nvSpPr>
          <p:cNvPr id="31" name="Shape 26"/>
          <p:cNvSpPr/>
          <p:nvPr/>
        </p:nvSpPr>
        <p:spPr>
          <a:xfrm>
            <a:off x="4892040" y="3044952"/>
            <a:ext cx="4251960" cy="2084832"/>
          </a:xfrm>
          <a:prstGeom prst="roundRect">
            <a:avLst>
              <a:gd name="adj" fmla="val 5263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983480" y="36118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0D0B1E"/>
          </a:solidFill>
          <a:ln w="12700">
            <a:solidFill>
              <a:srgbClr val="2A2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074920" y="3666744"/>
            <a:ext cx="3867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document.getElementById('theme-toggle');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(localStorage.getItem('theme')==='dark')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document.body.classList.add('dark-mode');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btn.textContent = '🔆';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btn.addEventListener('click', () =&gt;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document.body.classList.toggle('dark-mode');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isDark 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document.body.classList.contains('dark-mode');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localStorage.setItem('theme',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isDark ? 'dark' : 'light');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btn.textContent = isDark ? '🔆' : '🌙';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9DE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4892040" y="3044952"/>
            <a:ext cx="4251960" cy="676656"/>
          </a:xfrm>
          <a:prstGeom prst="roundRect">
            <a:avLst>
              <a:gd name="adj" fmla="val 16216"/>
            </a:avLst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4892040" y="3575304"/>
            <a:ext cx="4251960" cy="164592"/>
          </a:xfrm>
          <a:prstGeom prst="rect">
            <a:avLst/>
          </a:prstGeom>
          <a:solidFill>
            <a:srgbClr val="1A1440"/>
          </a:solidFill>
          <a:ln w="12700">
            <a:solidFill>
              <a:srgbClr val="1A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5001768" y="3136392"/>
            <a:ext cx="365760" cy="365760"/>
          </a:xfrm>
          <a:prstGeom prst="ellipse">
            <a:avLst/>
          </a:prstGeom>
          <a:solidFill>
            <a:srgbClr val="6C4FDF"/>
          </a:solidFill>
          <a:ln w="12700">
            <a:solidFill>
              <a:srgbClr val="6C4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136392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58968" y="3108960"/>
            <a:ext cx="3575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458968" y="3383280"/>
            <a:ext cx="3575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9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thème + persistance localStorage</a:t>
            </a:r>
            <a:endParaRPr lang="en-US" sz="780" dirty="0"/>
          </a:p>
        </p:txBody>
      </p:sp>
      <p:sp>
        <p:nvSpPr>
          <p:cNvPr id="40" name="Text 34"/>
          <p:cNvSpPr/>
          <p:nvPr/>
        </p:nvSpPr>
        <p:spPr>
          <a:xfrm>
            <a:off x="8549640" y="4828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&amp; CSS AVANCÉ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&amp; techniques utilisés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6C4FD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444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99339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navigation adaptative avec burger menu, collapse 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4A33B5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58768" y="1444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199339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 fluide col-md-4, col-lg-3 pour les grilles de freelances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6C4FD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63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84848" y="1444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Modernes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640" y="199339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freelances avec hover animation, shadow et overlay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554480" y="30175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4A33B5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3200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212848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Témoignages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691640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Carousel pour les avis clients, responsive et tactile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480560" y="30175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6C4FD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200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38928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617720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"Comment ça marche" en bento grid moderne avec icônes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6C4FD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9B87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704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10 commits — du projet à la mise en ligne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115568" y="1115568"/>
            <a:ext cx="0" cy="3749040"/>
          </a:xfrm>
          <a:prstGeom prst="line">
            <a:avLst/>
          </a:prstGeom>
          <a:noFill/>
          <a:ln w="25400">
            <a:solidFill>
              <a:srgbClr val="6C4F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24128" y="1234440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325880" y="107899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53312" y="120700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53312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01368" y="1133856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création du dépôt &amp; structure HTML de base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801368" y="14813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024128" y="2002536"/>
            <a:ext cx="256032" cy="256032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325880" y="1847088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353312" y="1975104"/>
            <a:ext cx="402336" cy="402336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53312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801368" y="1901952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 avec contenu texte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801368" y="2249424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1–2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024128" y="2770632"/>
            <a:ext cx="256032" cy="256032"/>
          </a:xfrm>
          <a:prstGeom prst="ellipse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325880" y="261518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353312" y="2743200"/>
            <a:ext cx="402336" cy="402336"/>
          </a:xfrm>
          <a:prstGeom prst="ellipse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35331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801368" y="2670048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général et styles de base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801368" y="3017520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024128" y="3538728"/>
            <a:ext cx="256032" cy="256032"/>
          </a:xfrm>
          <a:prstGeom prst="ellipse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325880" y="3383280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353312" y="3511296"/>
            <a:ext cx="402336" cy="402336"/>
          </a:xfrm>
          <a:prstGeom prst="ellipse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35331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801368" y="3438144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effets hover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801368" y="3785616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2–3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024128" y="43068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325880" y="4151376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353312" y="427939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353312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801368" y="4206240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 mobile et tablette, media queries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801368" y="455371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413248" y="12344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715000" y="107899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742432" y="120700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742432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190488" y="1133856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avec localStorage, navbar dynamique au scroll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190488" y="14813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3–4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413248" y="2002536"/>
            <a:ext cx="256032" cy="25603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5715000" y="1847088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742432" y="1975104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742432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190488" y="1901952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 et animations fade-in des sections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190488" y="2249424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413248" y="2770632"/>
            <a:ext cx="256032" cy="25603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5715000" y="261518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5742432" y="2743200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74243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190488" y="2670048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dynamique des freelances &amp; validation formulaire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190488" y="3017520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4–5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413248" y="3538728"/>
            <a:ext cx="256032" cy="256032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715000" y="3383280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5742432" y="3511296"/>
            <a:ext cx="402336" cy="40233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74243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190488" y="3438144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 responsive, optimisation &amp; commentaires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6190488" y="3785616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5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413248" y="4306824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5715000" y="4151376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5742432" y="4279392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5742432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6190488" y="4206240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activé, README &amp; PowerPoint ajoutés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6190488" y="455371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5–6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325978" y="4809744"/>
            <a:ext cx="8503920" cy="201168"/>
          </a:xfrm>
          <a:prstGeom prst="roundRect">
            <a:avLst>
              <a:gd name="adj" fmla="val 22727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320040" y="48097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Site déployé sur GitHub Pages — accessible </a:t>
            </a:r>
            <a:r>
              <a:rPr lang="en-US" sz="1000" b="1" dirty="0" err="1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</a:t>
            </a: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lien : https://falilouthiane28-cloud.github.io/THIANE-MOUHAMETH-FALILOU-AfriTalent/  ✓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Solutions apportées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1F1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399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difficile sur mobile, certains éléments se chevauchaient sur petits écrans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27632"/>
            <a:ext cx="54864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93776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0FFF4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60020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32120" y="1399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5321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ciblées, Bootstrap grid revu, tests sur multiples viewports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2514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1F1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8892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2587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JavaScript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6868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JS dispersé, difficile à maintenir, conflits entre fonctions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816352"/>
            <a:ext cx="548640" cy="41148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937760" y="2514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0FFF4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788920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532120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53212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restructuré en modules, commentaires clairs, séparation des responsabilités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274320" y="370332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1F1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7764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68680" y="37764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Bootstrap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868680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entre CSS personnalisé et classes Bootstrap, surcharges involontaires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005072"/>
            <a:ext cx="548640" cy="41148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937760" y="370332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0FFF4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977640"/>
            <a:ext cx="411480" cy="4114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532120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553212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la documentation officielle Bootstrap, préfixage des classes customs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4A33B5">
              <a:alpha val="6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07008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2212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CSS pour le responsive et les composants UI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4A33B5">
              <a:alpha val="6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07008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37560" y="2212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référence HTML, CSS, JavaScript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72200" y="10972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4A33B5">
              <a:alpha val="6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207008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63640" y="2212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d'icônes vectorielles pour les visuels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00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4A33B5">
              <a:alpha val="6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3081528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0040" y="3749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1148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Montserrat, Sora — polices web haute qualité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4A33B5">
              <a:alpha val="6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3081528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46120" y="3749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MDN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33756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officielle ES6+, APIs Web modernes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1722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4A33B5">
              <a:alpha val="65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081528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72200" y="3749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26364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Versionning, collaboration, déploiement Pages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6C4FD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</a:t>
            </a:r>
            <a:r>
              <a:rPr lang="en-US" sz="15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ligne-Fonctionnalités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principales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50292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88720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0D0D0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0" y="123444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4A33B5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13075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504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freelances filtrable par catégorie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0" y="1892808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4A33B5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196596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1984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(freelances, entreprises, missions)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0" y="2551176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4A33B5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262432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35040" y="2642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/ Light mode avec mémoire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0" y="3209544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4A33B5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128" y="3282696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35040" y="3300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responsive</a:t>
            </a:r>
            <a:r>
              <a:rPr lang="fr-F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tablette, desktop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486400" y="3867912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4A33B5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6128" y="3941064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35040" y="39593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 avec validation JS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6C4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prochaine version d'AfriTalent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6C4FD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35608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" y="2441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connexion sécurisé pour freelances et entreprises (OAuth, JWT)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0" y="13258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4A33B5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435608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0128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10128" y="2441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robuste (Node.js + MongoDB) pour gérer profils et missions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26480" y="13258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6C4FD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435608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36208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interne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36208" y="2441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 temps réel entre clients et freelances via WebSockets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1554480" y="31546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4A33B5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264408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64208" y="3950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664208" y="4270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Wave / Orange Money / Stripe pour transactions sécurisées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480560" y="31546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6C4FDF"/>
          </a:solidFill>
          <a:ln/>
          <a:effectLst>
            <a:outerShdw blurRad="152400" dist="25400" dir="2700000" algn="bl" rotWithShape="0">
              <a:srgbClr val="6C4FD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264408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0288" y="3950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freelance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90288" y="4270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personnel avec statistiques, missions et revenus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4FD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5214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finalisé et entièrement fonctionnel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151790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 et fonctionnalités développées avec succès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0574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40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1122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responsive &amp; moderne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51560" y="247802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optimale sur tous les appareils et tailles d'écran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00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0723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réussi sur GitHub Pages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51560" y="343814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accessible en ligne, versioning complet documenté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4A33B5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605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0325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atteints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51560" y="439826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AfriTalent opérationnelle, prête à connecter talents et entreprises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6C4FD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9B87F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0" y="4114800"/>
            <a:ext cx="2286000" cy="2286000"/>
          </a:xfrm>
          <a:prstGeom prst="ellipse">
            <a:avLst/>
          </a:prstGeom>
          <a:solidFill>
            <a:srgbClr val="F5A623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2004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</a:t>
            </a:r>
            <a:r>
              <a:rPr lang="en-US" sz="4200" b="1" kern="0" spc="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4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attention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2286000" y="2743200"/>
            <a:ext cx="4572000" cy="777240"/>
          </a:xfrm>
          <a:prstGeom prst="roundRect">
            <a:avLst>
              <a:gd name="adj" fmla="val 14118"/>
            </a:avLst>
          </a:prstGeom>
          <a:solidFill>
            <a:srgbClr val="F5A62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86000" y="2743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?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Mouhameth Falilou Thiane  |  Projet AfriTalent  | 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1476</Words>
  <Application>Microsoft Office PowerPoint</Application>
  <PresentationFormat>Affichage à l'écran (16:9)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Présentation de Projet</dc:title>
  <dc:subject>PptxGenJS Presentation</dc:subject>
  <dc:creator>Mouhameth Falilou Thiane</dc:creator>
  <cp:lastModifiedBy>FALLOU THIANE</cp:lastModifiedBy>
  <cp:revision>8</cp:revision>
  <dcterms:created xsi:type="dcterms:W3CDTF">2026-06-27T17:25:09Z</dcterms:created>
  <dcterms:modified xsi:type="dcterms:W3CDTF">2026-06-28T19:19:45Z</dcterms:modified>
</cp:coreProperties>
</file>